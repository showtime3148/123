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7~10분 설명 후 2분 실습용입니다. 학습 자료를 먼저 검색하고 필요하면 웹 검색으로 이어지는 앱이라고 소개하세요. 자료의 수정 제안과 AI 답변은 출처를 확인해야 합니다. 스크린샷은 현재 저장소 앱을 공동 사용 모드로 재현해 촬영했습니다. 실제 배포 주소에는 접속하지 않았고 API 요금도 발생시키지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 오른쪽 두 칸을 클릭하여 실제 앱 주소와 접속 비밀번호로 바꾸세요. 두 칸은 이미지가 아닌 편집 가능한 PowerPoint 텍스트입니다. 주소에는 링크를 추가해도 좋습니다. 비밀번호가 들어간 파일은 참여 선생님들에게만 공유하세요. PDF에도 반영하려면 PowerPoint 수정 후 PDF로 다시 내보내세요.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문제와 모든 보기가 함께 보이게 캡처하세요. PNG, JPG, WebP, 최대 8MB이며 영어 문자 인식입니다. 화면 캡처는 데스크톱 브라우저 중심 기능입니다. 브라우저가 화면 공유 권한을 물으면 원하는 창을 선택하세요. 한 장을 촬영한 뒤 공유는 종료됩니다. 스마트폰은 이미지 파일 업로드를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이미지를 올리면 OCR 완료 후 첫 검색은 자동 실행됩니다. 자동 검색 결과가 이상하면 인식된 텍스트를 확인하세요. 오타를 수정한 뒤 답 찾기를 눌러 재검색합니다. 영어가 아닌 문제는 직접 텍스트를 입력할 수 있지만 영어 문서와의 일치가 낮아 웹 검색으로 넘어갈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텍스트 유사도는 입력 문장과 저장된 문제의 닮은 정도이며 정답 확률이 아닙니다. 예시 1번은 원본 답과 별도의 수정 제안을 가진 문제입니다. 노란 상자의 수정 제안은 편집 검토 결과이지 웹 검증 완료 표시가 아닙니다. 불확실한 경우 다음 슬라이드의 웹 검증을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문서와 확실히 일치하지 않으면 앱이 자동으로 웹 검색을 실행합니다. 문서 답이 나와도 웹 출처로 다시 검증 버튼으로 웹 검색을 요청할 수 있습니다. 오른쪽은 기능 설명이며 실제 유료 검색 응답을 캡처한 화면은 아닙니다. 문제 텍스트와 관련 문서 일부가 OpenAI로 전송됩니다. 웹 검색 답변 아래의 출처 링크를 열어 조건과 근거를 비교하도록 안내하세요. 교육 시범을 할 경우 이 단계에서 실제 API 요금이 발생합니다.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자료 영역은 화면 아래로 스크롤하면 나옵니다. Level 1의 불러오기는 저장된 문제를 입력칸으로 가져와 바로 검색합니다. Level 2 정답 25개는 문제 본문이 없으므로 자동 매칭에 사용되지 않습니다. 실습 과제 탭에는 3개 과제가 있으며 실습 단계 보기를 펼쳐 읽을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12명이 함께 접속하는 구조지만 12명 실사용 부하 시험을 완료한 것은 아닙니다. 각 브라우저에서 이미지 문자 인식을 하므로 OCR을 한 서버에서 순서대로 처리하지 않습니다. 서버/API 요청이 몰리면 제한 안내가 나올 수 있습니다. Vercel 구성에는 영구 사용량 DB나 전체 일일 호출 횟수 상한이 없습니다. 발표자는 운영 중 비용을 Usage에서 확인하고 종료 후 자동 충전 설정도 점검할 수 있습니다. 충전 금액과 실제 API 소비 금액은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화면에서 뜨는 문구를 그대로 확인하도록 안내하세요. 접속 시간이 만료되면 다시 로그인합니다. 설정된 이용 시간이 종료되었다는 문구는 관리자가 지정한 종료 시각을 지난 경우입니다. API 결제/인증 오류는 관리자에게 전달하며, 교사 개인이 API 키를 발급받을 필요는 없습니다. 문의 화면에는 비밀번호나 API 키가 포함되지 않게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참여자들에게 practice_question.png 파일을 공유하거나 이 슬라이드의 문제 영역을 캡처하도록 안내하세요. 앱은 문서 일치와 Theme을 표시해야 합니다. 매칭된 문제와 보기, 원본 답안도 펼쳐 보게 하세요. 이 연습의 문서 검색에는 API 비용이 들지 않습니다. 웹 검증까지 연습하려면 비용이 발생함을 설명한 후 진행하세요. 발표 전 2번 슬라이드의 접속 주소와 비밀번호를 편집하는 것을 잊지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CA75"/>
                </a:solidFill>
                <a:latin typeface="Noto Sans CJK KR"/>
              </a:defRPr>
            </a:pPr>
            <a:r>
              <a:t>GOOGLE CERTIFIED EDUCATOR · 함께 공부하는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EFB"/>
                </a:solidFill>
                <a:latin typeface="Noto Sans CJK KR"/>
              </a:defRPr>
            </a:pPr>
            <a:r>
              <a:t>문제 한 장으로 시작하는</a:t>
            </a:r>
          </a:p>
          <a:p>
            <a:pPr>
              <a:spcAft>
                <a:spcPts val="700"/>
              </a:spcAft>
              <a:defRPr sz="3000" b="1">
                <a:solidFill>
                  <a:srgbClr val="FFFEFB"/>
                </a:solidFill>
                <a:latin typeface="Noto Sans CJK KR"/>
              </a:defRPr>
            </a:pPr>
            <a:r>
              <a:t>GCE 학습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416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C0D1C4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C0D1C4"/>
                </a:solidFill>
                <a:latin typeface="Noto Sans CJK KR"/>
              </a:defRPr>
            </a:pPr>
            <a: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FFFEFB"/>
                </a:solidFill>
                <a:latin typeface="Noto Sans CJK KR"/>
              </a:defRPr>
            </a:pPr>
            <a:r>
              <a:t>캡처하고, 문서에서 찾고,</a:t>
            </a:r>
          </a:p>
          <a:p>
            <a:pPr>
              <a:spcAft>
                <a:spcPts val="700"/>
              </a:spcAft>
              <a:defRPr sz="2300" b="0">
                <a:solidFill>
                  <a:srgbClr val="FFFEFB"/>
                </a:solidFill>
                <a:latin typeface="Noto Sans CJK KR"/>
              </a:defRPr>
            </a:pPr>
            <a:r>
              <a:t>필요하면 웹 출처를 확인합니다.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0"/>
            <a:ext cx="3337560" cy="347472"/>
          </a:xfrm>
          <a:prstGeom prst="roundRect">
            <a:avLst>
              <a:gd name="adj" fmla="val 12000"/>
            </a:avLst>
          </a:prstGeom>
          <a:solidFill>
            <a:srgbClr val="E4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895344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설치 없이 · 브라우저에서 함께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7E6DA"/>
                </a:solidFill>
                <a:latin typeface="Noto Sans CJK KR"/>
              </a:defRPr>
            </a:pPr>
            <a:r>
              <a:t>01  접속하기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56631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7E6DA"/>
                </a:solidFill>
                <a:latin typeface="Noto Sans CJK KR"/>
              </a:defRPr>
            </a:pPr>
            <a:r>
              <a:t>02  문제 가져오기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9554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7E6DA"/>
                </a:solidFill>
                <a:latin typeface="Noto Sans CJK KR"/>
              </a:defRPr>
            </a:pPr>
            <a:r>
              <a:t>03  답과 근거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188720"/>
            <a:ext cx="5989320" cy="480060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45895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01 · 접속하기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공유받은 주소를 열고 비밀번호를 입력하세요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선생님 개인의 OpenAI 계정이나 API 키는 필요하지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02 / 10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31" y="2148840"/>
            <a:ext cx="4405256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6B53"/>
                </a:solidFill>
                <a:latin typeface="Noto Sans CJK KR"/>
              </a:defRPr>
            </a:pPr>
            <a:r>
              <a:t>접속 주소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624328"/>
            <a:ext cx="5806440" cy="7772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편집_접속주소"/>
          <p:cNvSpPr txBox="1"/>
          <p:nvPr/>
        </p:nvSpPr>
        <p:spPr>
          <a:xfrm>
            <a:off x="5943600" y="2816352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63766D"/>
                </a:solidFill>
                <a:latin typeface="Noto Sans CJK KR"/>
              </a:defRPr>
            </a:pPr>
            <a:r>
              <a:t>여기에 앱 주소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657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6B53"/>
                </a:solidFill>
                <a:latin typeface="Noto Sans CJK KR"/>
              </a:defRPr>
            </a:pPr>
            <a:r>
              <a:t>접속 비밀번호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4133087"/>
            <a:ext cx="5806440" cy="777240"/>
          </a:xfrm>
          <a:prstGeom prst="roundRect">
            <a:avLst>
              <a:gd name="adj" fmla="val 12000"/>
            </a:avLst>
          </a:prstGeom>
          <a:solidFill>
            <a:srgbClr val="FFF4D7"/>
          </a:solidFill>
          <a:ln>
            <a:solidFill>
              <a:srgbClr val="E3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편집_접속비밀번호"/>
          <p:cNvSpPr txBox="1"/>
          <p:nvPr/>
        </p:nvSpPr>
        <p:spPr>
          <a:xfrm>
            <a:off x="5943600" y="4325112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8332F"/>
                </a:solidFill>
                <a:latin typeface="Noto Sans CJK KR"/>
              </a:defRPr>
            </a:pPr>
            <a:r>
              <a:t>여기에 비밀번호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5212080"/>
            <a:ext cx="5303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입력 후 ‘들어가기’ 클릭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공용 컴퓨터에서는 사용 후 로그아웃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02 · 문제 가져오기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문제와 보기가 보이도록 한 장만 캡처하세요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이미지를 올리면 문자 인식과 검색이 자동으로 이어집니다.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24485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17627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클릭해서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679191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문제 이미지 파일을 선택하거나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점선 영역으로 끌어다 놓습니다.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357073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50215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이미지 붙여넣기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00507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캡처 이미지를 복사한 뒤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Ctrl + V / Mac은 ⌘ +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489661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82803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앱의 ‘화면 캡처’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533095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촬영할 창·화면을 선택합니다.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지원되지 않으면 업로드를 이용하세요.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2194560"/>
            <a:ext cx="6446520" cy="402336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46721"/>
            <a:ext cx="6080760" cy="3719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03 · 인식된 글자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잘못 읽은 글자는 직접 고칠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글자가 흐리거나 보기가 잘렸다면 문제 부분을 더 크게 캡처하세요.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8201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31343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문자 인식 기다리기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81635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첫 실행은 잠시 걸릴 수 있어요.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완료될 때까지 기다려 주세요.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3707891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63931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문제와 보기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14223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인식된 문제의 오타를 고칩니다.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직접 텍스트를 넣어도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503377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965192"/>
            <a:ext cx="36393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수정 후 ‘답 찾기’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5468112"/>
            <a:ext cx="363931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고친 내용으로 다시 검색합니다.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331720"/>
            <a:ext cx="6400800" cy="3749039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616500"/>
            <a:ext cx="6126480" cy="3179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04 · 문서 답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‘문서 일치’는 저장된 자료에서 찾았다는 뜻입니다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예시 문제의 표시 답: Theme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3629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26771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답과 수정 제안 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77063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원본 답과 다른 제안이 있을 수 있어요.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제안 이유도 함께 확인합니다.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3707891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639312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접힌 항목 펼쳐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142232"/>
            <a:ext cx="35478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‘매칭된 문제와 보기’와</a:t>
            </a:r>
          </a:p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‘정답지 원본 답’을 펼쳐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F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85232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332F"/>
                </a:solidFill>
                <a:latin typeface="Noto Sans CJK KR"/>
              </a:defRPr>
            </a:pPr>
            <a:r>
              <a:t>유사도 100% ≠ 정답 확률 100%</a:t>
            </a:r>
          </a:p>
          <a:p>
            <a:pPr>
              <a:spcAft>
                <a:spcPts val="700"/>
              </a:spcAft>
              <a:defRPr sz="1600" b="1">
                <a:solidFill>
                  <a:srgbClr val="18332F"/>
                </a:solidFill>
                <a:latin typeface="Noto Sans CJK KR"/>
              </a:defRPr>
            </a:pPr>
            <a:r>
              <a:t>문서 답도 근거 확인이 필요합니다.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057400"/>
            <a:ext cx="6446520" cy="42062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142" y="2194560"/>
            <a:ext cx="560095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05 · 웹 출처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문서에 없거나 근거를 확인하고 싶을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웹 검색에는 관리자 공동 API 비용이 발생합니다.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4572000" cy="361188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8332F"/>
                </a:solidFill>
                <a:latin typeface="Noto Sans CJK KR"/>
              </a:defRPr>
            </a:pPr>
            <a:r>
              <a:t>웹 검색이 실행되는 경우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8332F"/>
                </a:solidFill>
                <a:latin typeface="Noto Sans CJK KR"/>
              </a:defRPr>
            </a:pPr>
            <a:r>
              <a:t>① 확실히 일치하는 문서가 없을 때</a:t>
            </a:r>
          </a:p>
          <a:p>
            <a:pPr>
              <a:spcAft>
                <a:spcPts val="700"/>
              </a:spcAft>
              <a:defRPr sz="1800" b="0">
                <a:solidFill>
                  <a:srgbClr val="18332F"/>
                </a:solidFill>
                <a:latin typeface="Noto Sans CJK KR"/>
              </a:defRPr>
            </a:pPr>
            <a:r>
              <a:t>② 아래 버튼을 직접 눌렀을 때</a:t>
            </a:r>
          </a:p>
        </p:txBody>
      </p:sp>
      <p:pic>
        <p:nvPicPr>
          <p:cNvPr id="11" name="Picture 10" descr="web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97" y="4343400"/>
            <a:ext cx="2738845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3035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66D"/>
                </a:solidFill>
                <a:latin typeface="Noto Sans CJK KR"/>
              </a:defRPr>
            </a:pPr>
            <a:r>
              <a:t>버튼 이름을 확인한 뒤 눌러 주세요.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3317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38201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31343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‘웹 검색’ 표시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816352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답변이 나올 때까지 잠시 기다립니다.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61188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66217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59359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답변 아래 ‘출처’ 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096512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관련 공식 문서의 설명을 읽습니다.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892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4942331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4873752"/>
            <a:ext cx="5010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문제의 조건과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5376672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AI 해석도 틀릴 수 있으므로 근거를 확인합니다.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06 · 저장된 자료 둘러보기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화면 아래 ‘내 학습 자료’도 활용하세요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캡처 없이 문제를 불러오거나 실습 단계를 확인할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07 / 10</a:t>
            </a:r>
          </a:p>
        </p:txBody>
      </p:sp>
      <p:pic>
        <p:nvPicPr>
          <p:cNvPr id="8" name="Picture 7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85"/>
            <a:ext cx="10927080" cy="25640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892040"/>
            <a:ext cx="3383280" cy="1115568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07492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6B53"/>
                </a:solidFill>
                <a:latin typeface="Noto Sans CJK KR"/>
              </a:defRPr>
            </a:pPr>
            <a:r>
              <a:t>Level 1 · 37문제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138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‘불러오기’를 누르면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4892040"/>
            <a:ext cx="3383280" cy="1115568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507492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6B53"/>
                </a:solidFill>
                <a:latin typeface="Noto Sans CJK KR"/>
              </a:defRPr>
            </a:pPr>
            <a:r>
              <a:t>Level 2 · 25정답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5138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문제 본문이 없어 참고용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4892040"/>
            <a:ext cx="3383280" cy="1115568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507492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6B53"/>
                </a:solidFill>
                <a:latin typeface="Noto Sans CJK KR"/>
              </a:defRPr>
            </a:pPr>
            <a:r>
              <a:t>실습 과제 · 3개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551383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‘실습 단계 보기’ 펼치기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07 · 12명이 함께 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개인 키 없이, 각자의 브라우저에서 이용합니다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같은 접속 주소와 비밀번호를 사용합니다. 비용은 관리자 계정에 합산됩니다.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36B53"/>
                </a:solidFill>
                <a:latin typeface="Noto Sans CJK KR"/>
              </a:defRPr>
            </a:pPr>
            <a:r>
              <a:t>문자 인식 · 문서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별도 AI API 요금 없음</a:t>
            </a:r>
          </a:p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이미지 인식은 각자 브라우저에서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4D7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36B53"/>
                </a:solidFill>
                <a:latin typeface="Noto Sans CJK KR"/>
              </a:defRPr>
            </a:pPr>
            <a:r>
              <a:t>AI 웹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089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모델 사용료 + 웹 검색 도구 비용</a:t>
            </a:r>
          </a:p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필요한 경우에만 다시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07407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36B53"/>
                </a:solidFill>
                <a:latin typeface="Noto Sans CJK KR"/>
              </a:defRPr>
            </a:pPr>
            <a:r>
              <a:t>요청이 몰릴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‘잠시 후 다시 시도’ 안내가 나오면</a:t>
            </a:r>
          </a:p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기다렸다가 한 번만 다시 검색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407407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36B53"/>
                </a:solidFill>
                <a:latin typeface="Noto Sans CJK KR"/>
              </a:defRPr>
            </a:pPr>
            <a:r>
              <a:t>사용을 마칠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29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공용 컴퓨터에서는 로그아웃</a:t>
            </a:r>
          </a:p>
          <a:p>
            <a:pPr>
              <a:spcAft>
                <a:spcPts val="700"/>
              </a:spcAft>
              <a:defRPr sz="1700" b="0">
                <a:solidFill>
                  <a:srgbClr val="18332F"/>
                </a:solidFill>
                <a:latin typeface="Noto Sans CJK KR"/>
              </a:defRPr>
            </a:pPr>
            <a:r>
              <a:t>접속 주소와 비밀번호는 참여자끼리 공유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08 · 막히면 이렇게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오류 문구를 보고 한 가지씩 확인하세요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API 키나 결제 설정은 관리자가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6712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225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32F"/>
                </a:solidFill>
                <a:latin typeface="Noto Sans CJK KR"/>
              </a:defRPr>
            </a:pPr>
            <a:r>
              <a:t>로그인이 안 돼요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22576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8332F"/>
                </a:solidFill>
                <a:latin typeface="Noto Sans CJK KR"/>
              </a:defRPr>
            </a:pPr>
            <a:r>
              <a:t>비밀번호의 대소문자·앞뒤 공백을 확인하고 다시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9864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E4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05409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32F"/>
                </a:solidFill>
                <a:latin typeface="Noto Sans CJK KR"/>
              </a:defRPr>
            </a:pPr>
            <a:r>
              <a:t>문자가 이상하게 읽혀요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54096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8332F"/>
                </a:solidFill>
                <a:latin typeface="Noto Sans CJK KR"/>
              </a:defRPr>
            </a:pPr>
            <a:r>
              <a:t>한 문제와 보기를 확대해서 캡처하거나 텍스트 직접 수정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3016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8561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32F"/>
                </a:solidFill>
                <a:latin typeface="Noto Sans CJK KR"/>
              </a:defRPr>
            </a:pPr>
            <a:r>
              <a:t>화면 캡처가 안 돼요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85616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8332F"/>
                </a:solidFill>
                <a:latin typeface="Noto Sans CJK KR"/>
              </a:defRPr>
            </a:pPr>
            <a:r>
              <a:t>이미지 파일 업로드 또는 복사한 이미지 붙여넣기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6168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E4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51713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32F"/>
                </a:solidFill>
                <a:latin typeface="Noto Sans CJK KR"/>
              </a:defRPr>
            </a:pPr>
            <a:r>
              <a:t>요청이 많거나 시간이 초과돼요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17136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8332F"/>
                </a:solidFill>
                <a:latin typeface="Noto Sans CJK KR"/>
              </a:defRPr>
            </a:pPr>
            <a:r>
              <a:t>잠시 기다렸다 다시 검색 · 버튼 반복 클릭은 피하기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9320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24865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32F"/>
                </a:solidFill>
                <a:latin typeface="Noto Sans CJK KR"/>
              </a:defRPr>
            </a:pPr>
            <a:r>
              <a:t>API 연결·결제 오류가 나와요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48656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8332F"/>
                </a:solidFill>
                <a:latin typeface="Noto Sans CJK KR"/>
              </a:defRPr>
            </a:pPr>
            <a:r>
              <a:t>오류 문구를 관리자에게 전달 · 키는 공유하지 않기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함께 해보기 · 2분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8332F"/>
                </a:solidFill>
                <a:latin typeface="Noto Sans CJK KR"/>
              </a:defRPr>
            </a:pPr>
            <a:r>
              <a:t>이 문제로 한 번 연습해 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3766D"/>
                </a:solidFill>
                <a:latin typeface="Noto Sans CJK KR"/>
              </a:defRPr>
            </a:pPr>
            <a:r>
              <a:t>이미지를 캡처해 올린 뒤 인식된 문제와 표시 답을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GCE STUDY DESK  /  선생님 사용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3766D"/>
                </a:solidFill>
                <a:latin typeface="Noto Sans CJK KR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6720840" cy="3063240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2743200"/>
            <a:ext cx="6446520" cy="2148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6080760" cy="347472"/>
          </a:xfrm>
          <a:prstGeom prst="roundRect">
            <a:avLst>
              <a:gd name="adj" fmla="val 12000"/>
            </a:avLst>
          </a:prstGeom>
          <a:solidFill>
            <a:srgbClr val="E4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586983"/>
            <a:ext cx="5861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36B53"/>
                </a:solidFill>
                <a:latin typeface="Noto Sans CJK KR"/>
              </a:defRPr>
            </a:pPr>
            <a:r>
              <a:t>연습 이미지 파일도 함께 제공합니다 · 정답 표시: Theme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2860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33629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26771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770632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공유받은 비밀번호로 접속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4747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52501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45643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이미지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959352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문제와 보기를 한 장에 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6634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3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713731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EFB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645152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8332F"/>
                </a:solidFill>
                <a:latin typeface="Noto Sans CJK KR"/>
              </a:defRPr>
            </a:pPr>
            <a:r>
              <a:t>답과 근거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5148072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3766D"/>
                </a:solidFill>
                <a:latin typeface="Noto Sans CJK KR"/>
              </a:defRPr>
            </a:pPr>
            <a:r>
              <a:t>‘문서 일치’와 Theme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GCE Study Desk | 선생님 사용 안내</dc:title>
  <dc:subject>문제 이미지 가져오기, 문서 검색, 웹 출처 확인</dc:subject>
  <dc:creator>GCE Study Desk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